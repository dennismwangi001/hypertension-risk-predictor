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1F53AE-957D-40AE-95F7-CB2CC6CD96FD}" v="80" dt="2026-06-12T05:52:59.423"/>
    <p1510:client id="{2C7DA259-69D4-44D2-81FF-BBEF39D0C820}" v="11" dt="2026-06-11T21:11:54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P2_WHITE_BACKGROUND_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5EB703-5D02-79E5-B5FD-5D4ED681A608}"/>
              </a:ext>
            </a:extLst>
          </p:cNvPr>
          <p:cNvSpPr/>
          <p:nvPr userDrawn="1"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279400" dist="38100" dir="5400000" rotWithShape="0">
              <a:srgbClr val="FFFFFF">
                <a:alpha val="1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4C3D3CA5-BD6F-DDFB-B754-5615D937D588}"/>
              </a:ext>
            </a:extLst>
          </p:cNvPr>
          <p:cNvSpPr>
            <a:spLocks noGrp="1" noChangeAspect="1"/>
          </p:cNvSpPr>
          <p:nvPr>
            <p:ph type="pic" idx="10"/>
          </p:nvPr>
        </p:nvSpPr>
        <p:spPr>
          <a:xfrm>
            <a:off x="457200" y="331241"/>
            <a:ext cx="479580" cy="4795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2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7" Type="http://schemas.openxmlformats.org/officeDocument/2006/relationships/image" Target="file:///C:\Program%20Files\Inknoe%20ClassPoint%202\Images\mc_blue.png" TargetMode="Externa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file:///C:\Program%20Files\Inknoe%20ClassPoint%202\Images\mc_blue.png" TargetMode="Externa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80060" y="325369"/>
            <a:ext cx="3276451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4300" dirty="0">
                <a:latin typeface="+mj-lt"/>
                <a:ea typeface="+mj-ea"/>
                <a:cs typeface="+mj-cs"/>
              </a:rPr>
              <a:t>Predicting Hypertension R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80060" y="2872899"/>
            <a:ext cx="3182691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>
                <a:solidFill>
                  <a:srgbClr val="ADD8E6"/>
                </a:solidFill>
              </a:defRPr>
            </a:pPr>
            <a:r>
              <a:rPr lang="en-US" sz="1900"/>
              <a:t>A Data-Driven Approach to Preventative Care</a:t>
            </a:r>
            <a:br>
              <a:rPr lang="en-US" sz="1900"/>
            </a:br>
            <a:r>
              <a:rPr lang="en-US" sz="1900"/>
              <a:t>Leveraging Machine Learning for Early Patient Intervention</a:t>
            </a:r>
          </a:p>
        </p:txBody>
      </p:sp>
      <p:pic>
        <p:nvPicPr>
          <p:cNvPr id="9" name="Picture 8" descr="Remote cardiac monitoring devices transmitting electrocardiogram data ...">
            <a:extLst>
              <a:ext uri="{FF2B5EF4-FFF2-40B4-BE49-F238E27FC236}">
                <a16:creationId xmlns:a16="http://schemas.microsoft.com/office/drawing/2014/main" id="{375751A7-4D83-3E90-B7E6-323B4C3265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6" r="17066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close up of a magnifying glass&#10;&#10;AI-generated content may be incorrect.">
            <a:extLst>
              <a:ext uri="{FF2B5EF4-FFF2-40B4-BE49-F238E27FC236}">
                <a16:creationId xmlns:a16="http://schemas.microsoft.com/office/drawing/2014/main" id="{C07111B5-FC4F-4246-E8D6-F262EDD240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045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28650" y="365125"/>
            <a:ext cx="2866641" cy="1899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Business &amp; Medical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2434201"/>
            <a:ext cx="2866641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400" dirty="0"/>
              <a:t>Goal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 dirty="0"/>
              <a:t>Identify patients at risk of hypertension before severe complications occur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400" dirty="0"/>
              <a:t>Dataset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 dirty="0"/>
              <a:t>4,999 patient records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 dirty="0"/>
              <a:t>Focus on cardiovascular risk prediction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400" dirty="0"/>
              <a:t>Challenge: Class Imbalance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 dirty="0"/>
              <a:t>92% Non-Hypertensive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 dirty="0"/>
              <a:t>8% Hypertensive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950353B-CC03-5523-32CC-9E078B2A716E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177" r="38177"/>
          <a:stretch>
            <a:fillRect/>
          </a:stretch>
        </p:blipFill>
        <p:spPr>
          <a:xfrm>
            <a:off x="457201" y="331241"/>
            <a:ext cx="0" cy="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C83B38-B7A2-75EA-FC4C-C4BC883577AC}"/>
              </a:ext>
            </a:extLst>
          </p:cNvPr>
          <p:cNvSpPr txBox="1"/>
          <p:nvPr/>
        </p:nvSpPr>
        <p:spPr>
          <a:xfrm>
            <a:off x="623621" y="331241"/>
            <a:ext cx="7896758" cy="1115522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r>
              <a:rPr lang="en-US" sz="2700">
                <a:solidFill>
                  <a:srgbClr val="000000"/>
                </a:solidFill>
                <a:latin typeface="Calibri (Body)"/>
              </a:rPr>
              <a:t>Which of the following is NOT a part of data preparation?</a:t>
            </a:r>
          </a:p>
        </p:txBody>
      </p:sp>
      <p:cxnSp>
        <p:nvCxnSpPr>
          <p:cNvPr id="6" name="Straight Connector 5" hidden="1">
            <a:extLst>
              <a:ext uri="{FF2B5EF4-FFF2-40B4-BE49-F238E27FC236}">
                <a16:creationId xmlns:a16="http://schemas.microsoft.com/office/drawing/2014/main" id="{CD4CF7DD-AB02-9B0C-41B3-81CD189A48FC}"/>
              </a:ext>
            </a:extLst>
          </p:cNvPr>
          <p:cNvCxnSpPr/>
          <p:nvPr/>
        </p:nvCxnSpPr>
        <p:spPr>
          <a:xfrm>
            <a:off x="623621" y="1446763"/>
            <a:ext cx="7896758" cy="0"/>
          </a:xfrm>
          <a:prstGeom prst="line">
            <a:avLst/>
          </a:prstGeom>
          <a:ln>
            <a:solidFill>
              <a:srgbClr val="CF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4DD21DC-DC51-A55B-587C-84C6AF176950}"/>
              </a:ext>
            </a:extLst>
          </p:cNvPr>
          <p:cNvSpPr txBox="1"/>
          <p:nvPr/>
        </p:nvSpPr>
        <p:spPr>
          <a:xfrm>
            <a:off x="623621" y="1721083"/>
            <a:ext cx="7896758" cy="25374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55600" indent="-342900">
              <a:spcBef>
                <a:spcPts val="700"/>
              </a:spcBef>
              <a:spcAft>
                <a:spcPts val="700"/>
              </a:spcAft>
              <a:buAutoNum type="alphaUcPeriod"/>
            </a:pPr>
            <a:r>
              <a:rPr lang="en-US">
                <a:solidFill>
                  <a:srgbClr val="000000"/>
                </a:solidFill>
                <a:latin typeface="Calibri (Body)"/>
              </a:rPr>
              <a:t>Handled missing values
Standardized measurements
Encoded categorical variables
Dropped variables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7A85E99-BB05-4086-14C8-B24A959F66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202" y="3951228"/>
            <a:ext cx="1506651" cy="4800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5E8E1B-6CDD-4BC0-2315-86C5D9F9424F}"/>
              </a:ext>
            </a:extLst>
          </p:cNvPr>
          <p:cNvSpPr txBox="1"/>
          <p:nvPr/>
        </p:nvSpPr>
        <p:spPr>
          <a:xfrm>
            <a:off x="623621" y="4577363"/>
            <a:ext cx="7896758" cy="369332"/>
          </a:xfrm>
          <a:prstGeom prst="rect">
            <a:avLst/>
          </a:prstGeom>
          <a:noFill/>
        </p:spPr>
        <p:txBody>
          <a:bodyPr vert="horz" rtlCol="0">
            <a:normAutofit/>
          </a:bodyPr>
          <a:lstStyle/>
          <a:p>
            <a:r>
              <a:rPr lang="en-US">
                <a:solidFill>
                  <a:srgbClr val="159B48"/>
                </a:solidFill>
                <a:latin typeface="Calibri (Body)"/>
              </a:rPr>
              <a:t>Correct answer: D</a:t>
            </a:r>
          </a:p>
        </p:txBody>
      </p:sp>
      <p:pic>
        <p:nvPicPr>
          <p:cNvPr id="12" name="btnInknoeActivityCp2">
            <a:extLst>
              <a:ext uri="{FF2B5EF4-FFF2-40B4-BE49-F238E27FC236}">
                <a16:creationId xmlns:a16="http://schemas.microsoft.com/office/drawing/2014/main" id="{780DA631-D0A6-AA20-4374-1ABED06B440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6231220" y="5768598"/>
            <a:ext cx="1666536" cy="4357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DE8DF8-0B06-2135-5A38-5D2DCE00E5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3300" y="2143125"/>
            <a:ext cx="2057400" cy="25717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042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rawing of a circuit board&#10;&#10;AI-generated content may be incorrect.">
            <a:extLst>
              <a:ext uri="{FF2B5EF4-FFF2-40B4-BE49-F238E27FC236}">
                <a16:creationId xmlns:a16="http://schemas.microsoft.com/office/drawing/2014/main" id="{BCF6FFE8-0B73-119F-EB11-E12A5D0BF6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18" r="29669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28650" y="365125"/>
            <a:ext cx="2866641" cy="1899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Preparation &amp; Data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2434201"/>
            <a:ext cx="2866641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400"/>
              <a:t>Data Preparation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Handled missing values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Standardized measurements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Encoded categorical variables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400"/>
              <a:t>Data Leakage Prevention - Dropped Variables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Systolic Blood Pressure (SBP)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Diastolic Blood Pressure (DBP)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Why? These variables directly define hypertension and artificially inflate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30874204-7091-BB57-5C21-DEEF07198728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177" r="38177"/>
          <a:stretch>
            <a:fillRect/>
          </a:stretch>
        </p:blipFill>
        <p:spPr>
          <a:xfrm>
            <a:off x="457201" y="331241"/>
            <a:ext cx="0" cy="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02CB10-4531-414D-655D-C84B53574403}"/>
              </a:ext>
            </a:extLst>
          </p:cNvPr>
          <p:cNvSpPr txBox="1"/>
          <p:nvPr/>
        </p:nvSpPr>
        <p:spPr>
          <a:xfrm>
            <a:off x="623621" y="331241"/>
            <a:ext cx="7896758" cy="1115522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r>
              <a:rPr lang="en-US" sz="2700">
                <a:solidFill>
                  <a:srgbClr val="000000"/>
                </a:solidFill>
                <a:latin typeface="Calibri (Body)"/>
              </a:rPr>
              <a:t>What does SMOTE stand for in the context of data imbalance?</a:t>
            </a:r>
          </a:p>
        </p:txBody>
      </p:sp>
      <p:cxnSp>
        <p:nvCxnSpPr>
          <p:cNvPr id="6" name="Straight Connector 5" hidden="1">
            <a:extLst>
              <a:ext uri="{FF2B5EF4-FFF2-40B4-BE49-F238E27FC236}">
                <a16:creationId xmlns:a16="http://schemas.microsoft.com/office/drawing/2014/main" id="{1D4BBD9C-FCA6-98AD-C9BB-6B6900F4F49A}"/>
              </a:ext>
            </a:extLst>
          </p:cNvPr>
          <p:cNvCxnSpPr/>
          <p:nvPr/>
        </p:nvCxnSpPr>
        <p:spPr>
          <a:xfrm>
            <a:off x="623621" y="1446763"/>
            <a:ext cx="7896758" cy="0"/>
          </a:xfrm>
          <a:prstGeom prst="line">
            <a:avLst/>
          </a:prstGeom>
          <a:ln>
            <a:solidFill>
              <a:srgbClr val="CF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09F290B-C8C6-7F3F-94AD-B82DB0A0E8FA}"/>
              </a:ext>
            </a:extLst>
          </p:cNvPr>
          <p:cNvSpPr txBox="1"/>
          <p:nvPr/>
        </p:nvSpPr>
        <p:spPr>
          <a:xfrm>
            <a:off x="623621" y="1721083"/>
            <a:ext cx="7896758" cy="25374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55600" indent="-342900">
              <a:spcBef>
                <a:spcPts val="700"/>
              </a:spcBef>
              <a:spcAft>
                <a:spcPts val="700"/>
              </a:spcAft>
              <a:buAutoNum type="alphaUcPeriod"/>
            </a:pPr>
            <a:r>
              <a:rPr lang="en-US">
                <a:solidFill>
                  <a:srgbClr val="000000"/>
                </a:solidFill>
                <a:latin typeface="Calibri (Body)"/>
              </a:rPr>
              <a:t>Synthetic Mean Over-sampling Technique
Synthetic Minority Over-sampling Technique
Simple Minority Over-sampling Technique
Statistical Minority Over-sampling Technique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11918D7-44A0-4376-EE9B-C4CB3581A2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202" y="3951228"/>
            <a:ext cx="1506651" cy="4800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52E7FF-C71E-E51C-A0E9-A770343F471C}"/>
              </a:ext>
            </a:extLst>
          </p:cNvPr>
          <p:cNvSpPr txBox="1"/>
          <p:nvPr/>
        </p:nvSpPr>
        <p:spPr>
          <a:xfrm>
            <a:off x="623621" y="4577363"/>
            <a:ext cx="7896758" cy="369332"/>
          </a:xfrm>
          <a:prstGeom prst="rect">
            <a:avLst/>
          </a:prstGeom>
          <a:noFill/>
        </p:spPr>
        <p:txBody>
          <a:bodyPr vert="horz" rtlCol="0">
            <a:normAutofit/>
          </a:bodyPr>
          <a:lstStyle/>
          <a:p>
            <a:r>
              <a:rPr lang="en-US">
                <a:solidFill>
                  <a:srgbClr val="159B48"/>
                </a:solidFill>
                <a:latin typeface="Calibri (Body)"/>
              </a:rPr>
              <a:t>Correct answer: B</a:t>
            </a:r>
          </a:p>
        </p:txBody>
      </p:sp>
      <p:pic>
        <p:nvPicPr>
          <p:cNvPr id="12" name="btnInknoeActivityCp2">
            <a:extLst>
              <a:ext uri="{FF2B5EF4-FFF2-40B4-BE49-F238E27FC236}">
                <a16:creationId xmlns:a16="http://schemas.microsoft.com/office/drawing/2014/main" id="{78923977-6CF4-598D-2B97-D5C7375F5DF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6231220" y="5768598"/>
            <a:ext cx="1666536" cy="4357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2526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BEE3F-4448-CC3E-58CA-A48694E9AA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43" r="30396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28650" y="365125"/>
            <a:ext cx="2866641" cy="1899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Solving the Imbalance (SMOTE)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2434201"/>
            <a:ext cx="2866641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300"/>
              <a:t>Problem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300"/>
              <a:t>Model is biased toward the 92% majority class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300"/>
              <a:t>Solution: SMOTE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300"/>
              <a:t>Synthetic Minority Over-sampling Technique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300"/>
              <a:t>How SMOTE Works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300"/>
              <a:t>Generates synthetic minority-class observations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300"/>
              <a:t>Balances training data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300"/>
              <a:t>Improves model learning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300"/>
              <a:t>Golden Rule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300"/>
              <a:t>✅ Applied only to training data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300"/>
              <a:t>❌ Never applied to testing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positive and negative values&#10;&#10;AI-generated content may be incorrect.">
            <a:extLst>
              <a:ext uri="{FF2B5EF4-FFF2-40B4-BE49-F238E27FC236}">
                <a16:creationId xmlns:a16="http://schemas.microsoft.com/office/drawing/2014/main" id="{86E2486E-EFFE-5D95-82CA-A0ED777342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32" r="1812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648707" y="365125"/>
            <a:ext cx="2866642" cy="1899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Choosing the Right Scorecard (Metrics)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48707" y="2434201"/>
            <a:ext cx="2866642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400"/>
              <a:t>Why Accuracy is Misleading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A model predicting 'No Hypertension' for everyone achieves ~92% accuracy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400"/>
              <a:t>Evaluation Metrics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Recall: Ability to identify actual hypertensive patients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Precision: Proportion of predicted positives that are truly positive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F1-Score: Balance between Recall and Precision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ROC-AUC: Overall discriminatory power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8320" y="1161288"/>
            <a:ext cx="2578608" cy="12390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Competition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8320" y="2718054"/>
            <a:ext cx="2579180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/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200"/>
              <a:t>Algorithms Evaluated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200"/>
              <a:t>Logistic Regression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200"/>
              <a:t>K-Nearest Neighbors (KNN)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200"/>
              <a:t>Support Vector Machine (SVM)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200"/>
              <a:t>Naïve Bayes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200"/>
              <a:t>Decision Tree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200"/>
              <a:t>Random Forest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200"/>
              <a:t>XGBoost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200"/>
              <a:t>Model Categories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200"/>
              <a:t>Linear: Logistic Regression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200"/>
              <a:t>Tree-Based: Decision Tree, Random Forest, XGBoost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200"/>
              <a:t>Distance-Based: KNN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200"/>
              <a:t>Margin-Based: SVM</a:t>
            </a:r>
          </a:p>
        </p:txBody>
      </p:sp>
      <p:pic>
        <p:nvPicPr>
          <p:cNvPr id="5" name="Picture 4" descr="A black and white diagram of gears and cogs&#10;&#10;AI-generated content may be incorrect.">
            <a:extLst>
              <a:ext uri="{FF2B5EF4-FFF2-40B4-BE49-F238E27FC236}">
                <a16:creationId xmlns:a16="http://schemas.microsoft.com/office/drawing/2014/main" id="{14EA1D4D-370F-E77D-B4BE-8D0660964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488231"/>
            <a:ext cx="5191506" cy="39821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uilding under construction with a sunset behind it&#10;&#10;AI-generated content may be incorrect.">
            <a:extLst>
              <a:ext uri="{FF2B5EF4-FFF2-40B4-BE49-F238E27FC236}">
                <a16:creationId xmlns:a16="http://schemas.microsoft.com/office/drawing/2014/main" id="{186527FA-81C5-C7C8-ECAA-872A2390C3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63" r="7397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28650" y="365125"/>
            <a:ext cx="2866641" cy="18999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Proving Reliability (Cross-Validation)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2434201"/>
            <a:ext cx="2866641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400"/>
              <a:t>Challenge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Avoid overfitting and ensure model generalization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400"/>
              <a:t>Solution: 5-Fold Cross-Validation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Split data into 5 folds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Train on 4 folds, test on remaining fold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Repeat 5 times and average performance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400"/>
              <a:t>Benefits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More reliable performance estimates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Reduced overfitting risk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400"/>
              <a:t>Better model robustness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28650" y="365125"/>
            <a:ext cx="3938487" cy="180730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1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Drives Hypertension? (Feature Importance)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2333297"/>
            <a:ext cx="3464715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600"/>
              <a:t>Age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600"/>
              <a:t>Increased arterial stiffness and higher cardiovascular risk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600"/>
              <a:t>BMI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600"/>
              <a:t>Increased blood volume and greater cardiac workload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600"/>
              <a:t>Hemoglobin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600"/>
              <a:t>Oxygen transport dynamics and cardiovascular stress indicators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600"/>
              <a:t>HIV-Related Clinical Factors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600"/>
              <a:t>Chronic inflammation and long-term treatment effects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014B5-29CB-E88A-21CC-00FF2304D7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06" r="30909" b="-1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80060" y="325369"/>
            <a:ext cx="3276451" cy="19568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3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Winning Models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80060" y="2872899"/>
            <a:ext cx="3182691" cy="332066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lvl="0"/>
            <a:r>
              <a:rPr lang="en-US" b="1" dirty="0" err="1"/>
              <a:t>XGBoost</a:t>
            </a:r>
            <a:endParaRPr lang="en-US" dirty="0"/>
          </a:p>
          <a:p>
            <a:pPr lvl="1"/>
            <a:r>
              <a:rPr lang="en-US" dirty="0"/>
              <a:t>ROC-AUC ≈ 0.96</a:t>
            </a:r>
          </a:p>
          <a:p>
            <a:pPr lvl="1"/>
            <a:r>
              <a:rPr lang="en-US" dirty="0"/>
              <a:t>Highest overall performance</a:t>
            </a:r>
          </a:p>
          <a:p>
            <a:pPr lvl="0"/>
            <a:r>
              <a:rPr lang="en-US" b="1" dirty="0"/>
              <a:t>KNN Model</a:t>
            </a:r>
            <a:endParaRPr lang="en-US" dirty="0"/>
          </a:p>
          <a:p>
            <a:pPr lvl="0"/>
            <a:r>
              <a:rPr lang="en-US" dirty="0"/>
              <a:t>ROC-AUC</a:t>
            </a:r>
            <a:r>
              <a:rPr lang="en-US" b="1" dirty="0"/>
              <a:t> </a:t>
            </a:r>
            <a:r>
              <a:rPr lang="en-US" dirty="0"/>
              <a:t> ≈ 0.95</a:t>
            </a:r>
          </a:p>
          <a:p>
            <a:pPr lvl="0"/>
            <a:r>
              <a:rPr lang="en-US" b="1" dirty="0"/>
              <a:t>Random Forest</a:t>
            </a:r>
            <a:endParaRPr lang="en-US" dirty="0"/>
          </a:p>
          <a:p>
            <a:pPr lvl="1"/>
            <a:r>
              <a:rPr lang="en-US" dirty="0"/>
              <a:t>ROC-AUC ≈ 0.93</a:t>
            </a:r>
          </a:p>
          <a:p>
            <a:pPr lvl="1"/>
            <a:r>
              <a:rPr lang="en-US" dirty="0"/>
              <a:t>Strong predictive accuracy</a:t>
            </a:r>
          </a:p>
          <a:p>
            <a:pPr lvl="0"/>
            <a:r>
              <a:rPr lang="en-US" b="1" dirty="0"/>
              <a:t>Why Ensemble Learning Performs Best</a:t>
            </a:r>
            <a:endParaRPr lang="en-US" dirty="0"/>
          </a:p>
          <a:p>
            <a:pPr lvl="1"/>
            <a:r>
              <a:rPr lang="en-US" dirty="0"/>
              <a:t>Random Forest: Hundreds of decision trees with majority voting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: Sequential learning that corrects previous errors with optimized boosting</a:t>
            </a:r>
          </a:p>
          <a:p>
            <a:pPr lvl="1"/>
            <a:endParaRPr lang="en-US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pic>
        <p:nvPicPr>
          <p:cNvPr id="4" name="Picture 3" descr="A gold object with a crown and coins&#10;&#10;AI-generated content may be incorrect.">
            <a:extLst>
              <a:ext uri="{FF2B5EF4-FFF2-40B4-BE49-F238E27FC236}">
                <a16:creationId xmlns:a16="http://schemas.microsoft.com/office/drawing/2014/main" id="{9CC3A938-6BD0-0F4C-E5DF-10C96E4460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45" r="17834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752DAE-619C-962F-78EB-1501EF51CDEA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3771106"/>
          <a:ext cx="609600" cy="1841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61657440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18277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922087-D1BA-3690-1C92-E1AD960D1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712938"/>
              </p:ext>
            </p:extLst>
          </p:nvPr>
        </p:nvGraphicFramePr>
        <p:xfrm>
          <a:off x="4267200" y="3771105"/>
          <a:ext cx="609600" cy="604249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703080329"/>
                    </a:ext>
                  </a:extLst>
                </a:gridCol>
              </a:tblGrid>
              <a:tr h="60424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8656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28650" y="365125"/>
            <a:ext cx="3938487" cy="180730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2333297"/>
            <a:ext cx="3464715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700"/>
              <a:t>Model Performance (ROC-AUC)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700"/>
              <a:t>XGBoost: 0.957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700"/>
              <a:t>KNN: 0.953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700"/>
              <a:t>Random Forest: 0.927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700"/>
              <a:t>SVM: 0.880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700"/>
              <a:t>Decision Tree: 0.770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700"/>
              <a:t>Logistic Regression: 0.721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700"/>
              <a:t>Naïve Bayes: 0.717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700"/>
              <a:t>Key Finding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700"/>
              <a:t>XGBoost achieved the strongest discrimination between hypertensive and non-hypertensive patients</a:t>
            </a:r>
          </a:p>
        </p:txBody>
      </p:sp>
      <p:pic>
        <p:nvPicPr>
          <p:cNvPr id="4" name="Picture 3" descr="A podium with numbers on it&#10;&#10;AI-generated content may be incorrect.">
            <a:extLst>
              <a:ext uri="{FF2B5EF4-FFF2-40B4-BE49-F238E27FC236}">
                <a16:creationId xmlns:a16="http://schemas.microsoft.com/office/drawing/2014/main" id="{37804F17-B9C7-EFCC-D2FB-1A40A678CA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50" r="5642" b="-1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80060" y="325369"/>
            <a:ext cx="3276451" cy="19568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7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Clinical Impact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80060" y="2872899"/>
            <a:ext cx="3182691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000"/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000"/>
              <a:t>From Prediction to Prevention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endParaRPr lang="en-US" sz="1000"/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000"/>
              <a:t>Benefits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000"/>
              <a:t>✅ Early identification of high-risk patients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000"/>
              <a:t>✅ Targeted monitoring and follow-up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000"/>
              <a:t>✅ Better allocation of healthcare resources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000"/>
              <a:t>✅ Reduced cardiovascular complications</a:t>
            </a:r>
          </a:p>
          <a:p>
            <a:pPr indent="-228600" defTabSz="914400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800" b="1">
                <a:solidFill>
                  <a:srgbClr val="194B96"/>
                </a:solidFill>
              </a:defRPr>
            </a:pPr>
            <a:r>
              <a:rPr lang="en-US" sz="1000"/>
              <a:t>Potential Outcomes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000"/>
              <a:t>Earlier diagnosis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000"/>
              <a:t>Lifestyle interventions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000"/>
              <a:t>Timely medication initiation</a:t>
            </a:r>
          </a:p>
          <a:p>
            <a:pPr lvl="1" indent="-228600" defTabSz="91440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</a:defRPr>
            </a:pPr>
            <a:r>
              <a:rPr lang="en-US" sz="1000"/>
              <a:t>Improved patient outcomes</a:t>
            </a:r>
          </a:p>
        </p:txBody>
      </p:sp>
      <p:pic>
        <p:nvPicPr>
          <p:cNvPr id="4" name="Picture 3" descr="A person sitting at a computer with a stethoscope on it&#10;&#10;AI-generated content may be incorrect.">
            <a:extLst>
              <a:ext uri="{FF2B5EF4-FFF2-40B4-BE49-F238E27FC236}">
                <a16:creationId xmlns:a16="http://schemas.microsoft.com/office/drawing/2014/main" id="{9F7CC3D1-C287-15F0-09F0-9362CAE27A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53" r="9225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4B96"/>
          </a:solidFill>
          <a:ln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Conclusion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194B96"/>
                </a:solidFill>
              </a:defRPr>
            </a:pPr>
            <a:r>
              <a:t>Key Achievements</a:t>
            </a:r>
          </a:p>
          <a:p>
            <a:pPr lvl="1">
              <a:spcAft>
                <a:spcPts val="200"/>
              </a:spcAft>
              <a:defRPr sz="1400">
                <a:solidFill>
                  <a:srgbClr val="404040"/>
                </a:solidFill>
              </a:defRPr>
            </a:pPr>
            <a:r>
              <a:t>Developed robust ML framework for hypertension risk prediction</a:t>
            </a:r>
          </a:p>
          <a:p>
            <a:pPr lvl="1">
              <a:spcAft>
                <a:spcPts val="200"/>
              </a:spcAft>
              <a:defRPr sz="1400">
                <a:solidFill>
                  <a:srgbClr val="404040"/>
                </a:solidFill>
              </a:defRPr>
            </a:pPr>
            <a:r>
              <a:t>Successfully addressed class imbalance using SMOTE</a:t>
            </a:r>
          </a:p>
          <a:p>
            <a:pPr lvl="1">
              <a:spcAft>
                <a:spcPts val="200"/>
              </a:spcAft>
              <a:defRPr sz="1400">
                <a:solidFill>
                  <a:srgbClr val="404040"/>
                </a:solidFill>
              </a:defRPr>
            </a:pPr>
            <a:r>
              <a:t>Prevented data leakage through careful feature selection</a:t>
            </a:r>
          </a:p>
          <a:p>
            <a:pPr lvl="1">
              <a:spcAft>
                <a:spcPts val="200"/>
              </a:spcAft>
              <a:defRPr sz="1400">
                <a:solidFill>
                  <a:srgbClr val="404040"/>
                </a:solidFill>
              </a:defRPr>
            </a:pPr>
            <a:r>
              <a:t>XGBoost and Random Forest achieved excellent predictive performance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194B96"/>
                </a:solidFill>
              </a:defRPr>
            </a:pPr>
            <a:r>
              <a:t>Future Directions</a:t>
            </a:r>
          </a:p>
          <a:p>
            <a:pPr lvl="1">
              <a:spcAft>
                <a:spcPts val="200"/>
              </a:spcAft>
              <a:defRPr sz="1400">
                <a:solidFill>
                  <a:srgbClr val="404040"/>
                </a:solidFill>
              </a:defRPr>
            </a:pPr>
            <a:r>
              <a:t>Integration into Electronic Health Record (EHR) systems</a:t>
            </a:r>
          </a:p>
          <a:p>
            <a:pPr lvl="1">
              <a:spcAft>
                <a:spcPts val="200"/>
              </a:spcAft>
              <a:defRPr sz="1400">
                <a:solidFill>
                  <a:srgbClr val="404040"/>
                </a:solidFill>
              </a:defRPr>
            </a:pPr>
            <a:r>
              <a:t>Real-time clinical decision support</a:t>
            </a:r>
          </a:p>
          <a:p>
            <a:pPr lvl="1">
              <a:spcAft>
                <a:spcPts val="200"/>
              </a:spcAft>
              <a:defRPr sz="1400">
                <a:solidFill>
                  <a:srgbClr val="404040"/>
                </a:solidFill>
              </a:defRPr>
            </a:pPr>
            <a:r>
              <a:t>External validation on independent populations</a:t>
            </a:r>
          </a:p>
          <a:p>
            <a:pPr lvl="1">
              <a:spcAft>
                <a:spcPts val="200"/>
              </a:spcAft>
              <a:defRPr sz="1400">
                <a:solidFill>
                  <a:srgbClr val="404040"/>
                </a:solidFill>
              </a:defRPr>
            </a:pPr>
            <a:r>
              <a:t>Expansion to other cardiovascular conditions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194B96"/>
                </a:solidFill>
              </a:defRPr>
            </a:pPr>
            <a:r>
              <a:t>Final Impact</a:t>
            </a:r>
          </a:p>
          <a:p>
            <a:pPr lvl="1"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Shifting healthcare from reactive treatment to proactive prevention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QUIZSLIDE" val="{&quot;question&quot;:&quot;Which of the following is NOT a part of data preparation?&quot;,&quot;questionType&quot;:&quot;mc&quot;,&quot;options&quot;:[&quot;Handled missing values&quot;,&quot;Standardized measurements&quot;,&quot;Encoded categorical variables&quot;,&quot;Dropped variables&quot;],&quot;answer&quot;:&quot;3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,&quot;D&quot;]},&quot;mcIsAllowSelectMultiple&quot;:false,&quot;mcCorrectAnswers&quot;:{&quot;$type&quot;:&quot;System.Collections.Generic.List`1[[System.String, mscorlib]], mscorlib&quot;,&quot;$values&quot;:[&quot;D&quot;]},&quot;isQuizMode&quot;:false,&quot;correctPoints&quot;:null,&quot;correctSpeedBonus&quot;:null,&quot;HasCorrectAnswers&quot;:true,&quot;activityId&quot;:null,&quot;activityType&quot;:&quot;Multiple Choice&quot;,&quot;countdown&quot;:0,&quot;StartWithSlide&quot;:false,&quot;CanMinimize&quot;:false,&quot;CanCountDown&quot;:false},&quot;IsMappedFromCp1&quot;:false,&quot;IsQuizMode&quot;:false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QUIZSLIDE" val="{&quot;question&quot;:&quot;What does SMOTE stand for in the context of data imbalance?&quot;,&quot;questionType&quot;:&quot;mc&quot;,&quot;options&quot;:[&quot;Synthetic Mean Over-sampling Technique&quot;,&quot;Synthetic Minority Over-sampling Technique&quot;,&quot;Simple Minority Over-sampling Technique&quot;,&quot;Statistical Minority Over-sampling Technique&quot;],&quot;answer&quot;:&quot;1&quot;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,&quot;D&quot;]},&quot;mcIsAllowSelectMultiple&quot;:false,&quot;mcCorrectAnswers&quot;:{&quot;$type&quot;:&quot;System.Collections.Generic.List`1[[System.String, mscorlib]], mscorlib&quot;,&quot;$values&quot;:[&quot;B&quot;]},&quot;isQuizMode&quot;:false,&quot;correctPoints&quot;:null,&quot;correctSpeedBonus&quot;:null,&quot;HasCorrectAnswers&quot;:true,&quot;activityId&quot;:null,&quot;activityType&quot;:&quot;Multiple Choice&quot;,&quot;countdown&quot;:0,&quot;StartWithSlide&quot;:false,&quot;CanMinimize&quot;:false,&quot;CanCountDown&quot;:false},&quot;IsMappedFromCp1&quot;:false,&quot;IsQuizMode&quot;:false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604</Words>
  <Application>Microsoft Office PowerPoint</Application>
  <PresentationFormat>On-screen Show (4:3)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(Body)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dennis mwas</cp:lastModifiedBy>
  <cp:revision>28</cp:revision>
  <dcterms:created xsi:type="dcterms:W3CDTF">2013-01-27T09:14:16Z</dcterms:created>
  <dcterms:modified xsi:type="dcterms:W3CDTF">2026-06-13T05:36:19Z</dcterms:modified>
  <cp:category/>
</cp:coreProperties>
</file>